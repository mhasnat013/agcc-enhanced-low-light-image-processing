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Liter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C5F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Input</c:v>
                  </c:pt>
                  <c:pt idx="1">
                    <c:v>Our AGCC</c:v>
                  </c:pt>
                  <c:pt idx="2">
                    <c:v>Paper AGCC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</c:v>
                </c:pt>
                <c:pt idx="1">
                  <c:v>16.3</c:v>
                </c:pt>
                <c:pt idx="2">
                  <c:v>17.27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C5F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SSIM</c:v>
                </c:pt>
              </c:strCache>
            </c:strRef>
          </c:tx>
          <c:spPr>
            <a:solidFill>
              <a:srgbClr val="E07B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07B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Input</c:v>
                  </c:pt>
                  <c:pt idx="1">
                    <c:v>Our AGCC</c:v>
                  </c:pt>
                  <c:pt idx="2">
                    <c:v>Paper AGCC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0.178</c:v>
                </c:pt>
                <c:pt idx="1">
                  <c:v>0.495</c:v>
                </c:pt>
                <c:pt idx="2">
                  <c:v>0.71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E07B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AGCC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PSNR</c:v>
                  </c:pt>
                  <c:pt idx="1">
                    <c:v>SSIM</c:v>
                  </c:pt>
                  <c:pt idx="2">
                    <c:v>Entropy</c:v>
                  </c:pt>
                  <c:pt idx="3">
                    <c:v>Contrast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16.47</c:v>
                </c:pt>
                <c:pt idx="1">
                  <c:v>0.615</c:v>
                </c:pt>
                <c:pt idx="2">
                  <c:v>6.593</c:v>
                </c:pt>
                <c:pt idx="3">
                  <c:v>35.39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 Hybrid</c:v>
                </c:pt>
              </c:strCache>
            </c:strRef>
          </c:tx>
          <c:spPr>
            <a:solidFill>
              <a:srgbClr val="E07B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PSNR</c:v>
                  </c:pt>
                  <c:pt idx="1">
                    <c:v>SSIM</c:v>
                  </c:pt>
                  <c:pt idx="2">
                    <c:v>Entropy</c:v>
                  </c:pt>
                  <c:pt idx="3">
                    <c:v>Contrast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17.22</c:v>
                </c:pt>
                <c:pt idx="1">
                  <c:v>0.683</c:v>
                </c:pt>
                <c:pt idx="2">
                  <c:v>7.203</c:v>
                </c:pt>
                <c:pt idx="3">
                  <c:v>44.23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cv.org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0" y="0"/>
            <a:ext cx="5588000" cy="9144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016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spc="100" kern="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IMAGE PROCESSING · FINAL SEMESTER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879600"/>
            <a:ext cx="838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Gamma and Color Correction for Low-Light Image Enhancement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4445000"/>
            <a:ext cx="838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6A9B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Research-Based Implementation &amp; Enhancement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5080000"/>
            <a:ext cx="2286000" cy="0"/>
          </a:xfrm>
          <a:prstGeom prst="straightConnector1">
            <a:avLst/>
          </a:prstGeom>
          <a:noFill/>
          <a:ln w="31750">
            <a:solidFill>
              <a:srgbClr val="E07B5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016000" y="54102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Course: Digital Image Processing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Tool: Python / OpenCV / Google Colab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22000" y="82677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2025-2026 SPRING SEMESTER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10" name="Text 8"/>
          <p:cNvSpPr/>
          <p:nvPr/>
        </p:nvSpPr>
        <p:spPr>
          <a:xfrm>
            <a:off x="-767514" y="6739271"/>
            <a:ext cx="2940666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1219200"/>
            <a:ext cx="142240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6256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5" name="Text 3"/>
          <p:cNvSpPr/>
          <p:nvPr/>
        </p:nvSpPr>
        <p:spPr>
          <a:xfrm>
            <a:off x="16256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336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5184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75184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264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4648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648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34112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134112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149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3581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&amp; Problem Statement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62400" y="3149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62400" y="3581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Work &amp; Paper Summary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8800" y="3149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8800" y="3581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AGCC Pipeline &amp; Implementation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55200" y="3149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55200" y="3581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&amp; Comparative Analysis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0" y="3149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0" y="3581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 &amp; References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4826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presentation covers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research-based implementation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the 2024 AGCC paper for low-light image enhancement. We reproduce the original method, evaluate with quality metrics, propose hybrid improvements using classical DIP techniques, and present a comprehensive comparative analysis. Presentation duration: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15-20 minutes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400" kern="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Background &amp; 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4036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0800" y="533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low-light image enhancement problem and the scope of our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This chapter covers the motivation, objectives, and the low-light enhancement problem domain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1092200" y="11176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2024 AGCC paper in Python/OpenCV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1336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1092200" y="19812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PSNR, SSIM, NIQE, BRISQUE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997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" y="28448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hybrid DIP improvements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8608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" y="37084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original vs improved methods quantitatively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7244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" y="4572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LOL low-light dataset via Google Colab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588000"/>
            <a:ext cx="6934200" cy="1270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5715000"/>
            <a:ext cx="6426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AGCC Model: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3-stage pipeline — Adaptive Gamma Correction → RGB Color Correction → Contrast Stretching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36000" y="11176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sx="100000" sy="100000" kx="0" ky="0" algn="bl" rotWithShape="0" blurRad="76200" dist="25400" dir="5400000">
              <a:srgbClr val="2c5f8a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40800" y="13081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398000" y="11176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Paper Analysis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9350" y="2108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6000" y="26924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sx="100000" sy="100000" kx="0" ky="0" algn="bl" rotWithShape="0" blurRad="76200" dist="25400" dir="5400000">
              <a:srgbClr val="2c5f8a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4600" y="28829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398000" y="26924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39350" y="3683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6" name="Shape 24"/>
          <p:cNvSpPr/>
          <p:nvPr/>
        </p:nvSpPr>
        <p:spPr>
          <a:xfrm>
            <a:off x="8636000" y="42672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sx="100000" sy="100000" kx="0" ky="0" algn="bl" rotWithShape="0" blurRad="76200" dist="25400" dir="5400000">
              <a:srgbClr val="2c5f8a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90000" y="44577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0" y="42672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39350" y="5257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30" name="Shape 28"/>
          <p:cNvSpPr/>
          <p:nvPr/>
        </p:nvSpPr>
        <p:spPr>
          <a:xfrm>
            <a:off x="8636000" y="5842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  <a:effectLst>
            <a:outerShdw sx="100000" sy="100000" kx="0" ky="0" algn="bl" rotWithShape="0" blurRad="76200" dist="25400" dir="5400000">
              <a:srgbClr val="e07b54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64600" y="6032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398000" y="5842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0" y="1333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 identification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0" y="29083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Python/OpenCV in Colab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192000" y="44831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PSNR, SSIM, NIQE, BRISQUE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192000" y="60579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AGCC pipeline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36000" y="70612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40800" y="7188200"/>
            <a:ext cx="6502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40800" y="7645400"/>
            <a:ext cx="6502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OpenCV, NumPy, Matplotlib, Scikit-Image, pyiqa | Google Colab | LOL Dataset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90964" y="0"/>
                  <a:pt x="0" y="90964"/>
                  <a:pt x="0" y="203200"/>
                </a:cubicBezTo>
                <a:cubicBezTo>
                  <a:pt x="0" y="315436"/>
                  <a:pt x="90964" y="406400"/>
                  <a:pt x="203200" y="406400"/>
                </a:cubicBezTo>
                <a:cubicBezTo>
                  <a:pt x="257810" y="406400"/>
                  <a:pt x="307419" y="384810"/>
                  <a:pt x="343932" y="349726"/>
                </a:cubicBezTo>
                <a:cubicBezTo>
                  <a:pt x="349726" y="344170"/>
                  <a:pt x="351393" y="335518"/>
                  <a:pt x="348139" y="328216"/>
                </a:cubicBezTo>
                <a:cubicBezTo>
                  <a:pt x="344884" y="320913"/>
                  <a:pt x="337264" y="316389"/>
                  <a:pt x="329248" y="317024"/>
                </a:cubicBezTo>
                <a:cubicBezTo>
                  <a:pt x="325358" y="317341"/>
                  <a:pt x="321469" y="317500"/>
                  <a:pt x="317500" y="317500"/>
                </a:cubicBezTo>
                <a:cubicBezTo>
                  <a:pt x="236855" y="317500"/>
                  <a:pt x="171450" y="252095"/>
                  <a:pt x="171450" y="171450"/>
                </a:cubicBezTo>
                <a:cubicBezTo>
                  <a:pt x="171450" y="114221"/>
                  <a:pt x="204391" y="64611"/>
                  <a:pt x="252492" y="40640"/>
                </a:cubicBezTo>
                <a:cubicBezTo>
                  <a:pt x="259715" y="37068"/>
                  <a:pt x="263843" y="29289"/>
                  <a:pt x="262890" y="21272"/>
                </a:cubicBezTo>
                <a:cubicBezTo>
                  <a:pt x="261938" y="13256"/>
                  <a:pt x="256064" y="6747"/>
                  <a:pt x="248206" y="5001"/>
                </a:cubicBezTo>
                <a:cubicBezTo>
                  <a:pt x="233680" y="1746"/>
                  <a:pt x="218599" y="0"/>
                  <a:pt x="2032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Low-Light Enhancement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016000"/>
            <a:ext cx="7213600" cy="3937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sx="100000" sy="100000" kx="0" ky="0" algn="bl" rotWithShape="0" blurRad="127000" dist="25400" dir="5400000">
              <a:srgbClr val="2c5f8a">
                <a:alpha val="941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016000"/>
            <a:ext cx="7213600" cy="1016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270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 in Low-Light Images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8796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65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Faded colors</a:t>
            </a:r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low color rates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65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contrast</a:t>
            </a:r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poor visibility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65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Unclear details</a:t>
            </a:r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lost textures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65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Unbalanced RGB</a:t>
            </a:r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channel averages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Affects downstream </a:t>
            </a:r>
            <a:pPr>
              <a:lnSpc>
                <a:spcPct val="165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 tasks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80400" y="1016000"/>
            <a:ext cx="7213600" cy="3937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sx="100000" sy="100000" kx="0" ky="0" algn="bl" rotWithShape="0" blurRad="127000" dist="25400" dir="5400000">
              <a:srgbClr val="e07b54">
                <a:alpha val="941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80400" y="1016000"/>
            <a:ext cx="7213600" cy="1016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12" name="Text 10"/>
          <p:cNvSpPr/>
          <p:nvPr/>
        </p:nvSpPr>
        <p:spPr>
          <a:xfrm>
            <a:off x="8585200" y="1270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Approaches to Enhancement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85200" y="18796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Needs large datasets, GPU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Retinex-based: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Expensive, artifacts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Atmospheric Scattering: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Simple, fast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AGCC uses the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3rd approach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No deep learning needed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2832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1250" y="56896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-15875"/>
                </a:moveTo>
                <a:cubicBezTo>
                  <a:pt x="303312" y="-15875"/>
                  <a:pt x="317500" y="-1687"/>
                  <a:pt x="317500" y="15875"/>
                </a:cubicBezTo>
                <a:lnTo>
                  <a:pt x="317500" y="34032"/>
                </a:lnTo>
                <a:cubicBezTo>
                  <a:pt x="414834" y="47923"/>
                  <a:pt x="491827" y="124916"/>
                  <a:pt x="505718" y="222250"/>
                </a:cubicBezTo>
                <a:lnTo>
                  <a:pt x="523875" y="222250"/>
                </a:lnTo>
                <a:cubicBezTo>
                  <a:pt x="541437" y="222250"/>
                  <a:pt x="555625" y="236438"/>
                  <a:pt x="555625" y="254000"/>
                </a:cubicBezTo>
                <a:cubicBezTo>
                  <a:pt x="555625" y="271562"/>
                  <a:pt x="541437" y="285750"/>
                  <a:pt x="523875" y="285750"/>
                </a:cubicBezTo>
                <a:lnTo>
                  <a:pt x="505718" y="285750"/>
                </a:lnTo>
                <a:cubicBezTo>
                  <a:pt x="491827" y="383084"/>
                  <a:pt x="414834" y="460077"/>
                  <a:pt x="317500" y="473968"/>
                </a:cubicBezTo>
                <a:lnTo>
                  <a:pt x="317500" y="492125"/>
                </a:lnTo>
                <a:cubicBezTo>
                  <a:pt x="317500" y="509687"/>
                  <a:pt x="303312" y="523875"/>
                  <a:pt x="285750" y="523875"/>
                </a:cubicBezTo>
                <a:cubicBezTo>
                  <a:pt x="268188" y="523875"/>
                  <a:pt x="254000" y="509687"/>
                  <a:pt x="254000" y="492125"/>
                </a:cubicBezTo>
                <a:lnTo>
                  <a:pt x="254000" y="473968"/>
                </a:lnTo>
                <a:cubicBezTo>
                  <a:pt x="156666" y="460077"/>
                  <a:pt x="79673" y="383084"/>
                  <a:pt x="65782" y="285750"/>
                </a:cubicBezTo>
                <a:lnTo>
                  <a:pt x="47625" y="285750"/>
                </a:lnTo>
                <a:cubicBezTo>
                  <a:pt x="30063" y="285750"/>
                  <a:pt x="15875" y="271562"/>
                  <a:pt x="15875" y="254000"/>
                </a:cubicBezTo>
                <a:cubicBezTo>
                  <a:pt x="15875" y="236438"/>
                  <a:pt x="30063" y="222250"/>
                  <a:pt x="47625" y="222250"/>
                </a:cubicBezTo>
                <a:lnTo>
                  <a:pt x="65782" y="222250"/>
                </a:lnTo>
                <a:cubicBezTo>
                  <a:pt x="79673" y="124916"/>
                  <a:pt x="156666" y="47923"/>
                  <a:pt x="254000" y="34032"/>
                </a:cubicBezTo>
                <a:lnTo>
                  <a:pt x="254000" y="15875"/>
                </a:lnTo>
                <a:cubicBezTo>
                  <a:pt x="254000" y="-1687"/>
                  <a:pt x="268188" y="-15875"/>
                  <a:pt x="285750" y="-15875"/>
                </a:cubicBezTo>
                <a:close/>
                <a:moveTo>
                  <a:pt x="130175" y="285750"/>
                </a:moveTo>
                <a:cubicBezTo>
                  <a:pt x="142776" y="347960"/>
                  <a:pt x="191790" y="396974"/>
                  <a:pt x="254000" y="409575"/>
                </a:cubicBezTo>
                <a:lnTo>
                  <a:pt x="254000" y="396875"/>
                </a:lnTo>
                <a:cubicBezTo>
                  <a:pt x="254000" y="379313"/>
                  <a:pt x="268188" y="365125"/>
                  <a:pt x="285750" y="365125"/>
                </a:cubicBezTo>
                <a:cubicBezTo>
                  <a:pt x="303312" y="365125"/>
                  <a:pt x="317500" y="379313"/>
                  <a:pt x="317500" y="396875"/>
                </a:cubicBezTo>
                <a:lnTo>
                  <a:pt x="317500" y="409575"/>
                </a:lnTo>
                <a:cubicBezTo>
                  <a:pt x="379710" y="396974"/>
                  <a:pt x="428724" y="347960"/>
                  <a:pt x="441325" y="285750"/>
                </a:cubicBezTo>
                <a:lnTo>
                  <a:pt x="428625" y="285750"/>
                </a:lnTo>
                <a:cubicBezTo>
                  <a:pt x="411063" y="285750"/>
                  <a:pt x="396875" y="271562"/>
                  <a:pt x="396875" y="254000"/>
                </a:cubicBezTo>
                <a:cubicBezTo>
                  <a:pt x="396875" y="236438"/>
                  <a:pt x="411063" y="222250"/>
                  <a:pt x="428625" y="222250"/>
                </a:cubicBezTo>
                <a:lnTo>
                  <a:pt x="441325" y="222250"/>
                </a:lnTo>
                <a:cubicBezTo>
                  <a:pt x="428724" y="160040"/>
                  <a:pt x="379710" y="111026"/>
                  <a:pt x="317500" y="98425"/>
                </a:cubicBezTo>
                <a:lnTo>
                  <a:pt x="317500" y="111125"/>
                </a:lnTo>
                <a:cubicBezTo>
                  <a:pt x="317500" y="128687"/>
                  <a:pt x="303312" y="142875"/>
                  <a:pt x="285750" y="142875"/>
                </a:cubicBezTo>
                <a:cubicBezTo>
                  <a:pt x="268188" y="142875"/>
                  <a:pt x="254000" y="128687"/>
                  <a:pt x="254000" y="111125"/>
                </a:cubicBezTo>
                <a:lnTo>
                  <a:pt x="254000" y="98425"/>
                </a:lnTo>
                <a:cubicBezTo>
                  <a:pt x="191790" y="111026"/>
                  <a:pt x="142776" y="160040"/>
                  <a:pt x="130175" y="222250"/>
                </a:cubicBezTo>
                <a:lnTo>
                  <a:pt x="142875" y="222250"/>
                </a:lnTo>
                <a:cubicBezTo>
                  <a:pt x="160437" y="222250"/>
                  <a:pt x="174625" y="236438"/>
                  <a:pt x="174625" y="254000"/>
                </a:cubicBezTo>
                <a:cubicBezTo>
                  <a:pt x="174625" y="271562"/>
                  <a:pt x="160437" y="285750"/>
                  <a:pt x="142875" y="285750"/>
                </a:cubicBezTo>
                <a:lnTo>
                  <a:pt x="130175" y="285750"/>
                </a:lnTo>
                <a:close/>
                <a:moveTo>
                  <a:pt x="285750" y="206375"/>
                </a:moveTo>
                <a:cubicBezTo>
                  <a:pt x="312035" y="206375"/>
                  <a:pt x="333375" y="227715"/>
                  <a:pt x="333375" y="254000"/>
                </a:cubicBezTo>
                <a:cubicBezTo>
                  <a:pt x="333375" y="280285"/>
                  <a:pt x="312035" y="301625"/>
                  <a:pt x="285750" y="301625"/>
                </a:cubicBezTo>
                <a:cubicBezTo>
                  <a:pt x="259465" y="301625"/>
                  <a:pt x="238125" y="280285"/>
                  <a:pt x="238125" y="254000"/>
                </a:cubicBezTo>
                <a:cubicBezTo>
                  <a:pt x="238125" y="227715"/>
                  <a:pt x="259465" y="206375"/>
                  <a:pt x="285750" y="206375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1905000" y="53848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05000" y="5867400"/>
            <a:ext cx="1320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Restore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RGB color distribution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preserve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appearance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1120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6800" y="7264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Luminance Formula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1066800" y="7721600"/>
                <a:ext cx="14097000" cy="711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L</m:t>
                      </m:r>
                      <m:r>
                        <a:rPr lang="en-US" sz="20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=</m:t>
                      </m:r>
                      <m:r>
                        <a:rPr lang="en-US" sz="20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0.2126</m:t>
                      </m:r>
                      <m:r>
                        <a:rPr lang="en-US" sz="20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R</m:t>
                      </m:r>
                      <m:r>
                        <a:rPr lang="en-US" sz="20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+</m:t>
                      </m:r>
                      <m:r>
                        <a:rPr lang="en-US" sz="20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0.7152</m:t>
                      </m:r>
                      <m:r>
                        <a:rPr lang="en-US" sz="20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G</m:t>
                      </m:r>
                      <m:r>
                        <a:rPr lang="en-US" sz="20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+</m:t>
                      </m:r>
                      <m:r>
                        <a:rPr lang="en-US" sz="20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0.0722</m:t>
                      </m:r>
                      <m:r>
                        <a:rPr lang="en-US" sz="20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B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— Green channel weighted highest due to human visual sensitivity</a:t>
                </a:r>
                <a:endParaRPr lang="en-US" sz="16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1066800" y="7721600"/>
                <a:ext cx="14097000" cy="711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333333"/>
                    </a:solidFill>
                    <a:latin typeface="Liter, MiSans" pitchFamily="34" charset="0"/>
                    <a:ea typeface="Liter, MiSans" pitchFamily="34" charset="-122"/>
                    <a:cs typeface="Liter, MiSans" pitchFamily="34" charset="-120"/>
                  </a:rPr>
                  <a:t>( L = 0.2126R + 0.7152G + 0.0722B )</a:t>
                </a:r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— Green channel weighted highest due to human visual sensitivity</a:t>
                </a:r>
                <a:endParaRPr lang="en-US" sz="1600" dirty="0"/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400" kern="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Survey of Existing Methods &amp; Selected Paper Deep Dive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4036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&amp; Paper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0800" y="533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of state-of-the-art methods and analysis of the selected 2024 AGCC paper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This chapter positions AGCC against five competing methods and summarizes the paper's key contributions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Review: State-of-the-Art Methods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66800"/>
          <a:ext cx="14732000" cy="5080000"/>
        </p:xfrm>
        <a:graphic>
          <a:graphicData uri="http://schemas.openxmlformats.org/drawingml/2006/table">
            <a:tbl>
              <a:tblPr/>
              <a:tblGrid>
                <a:gridCol w="2209800"/>
                <a:gridCol w="3683000"/>
                <a:gridCol w="4419600"/>
                <a:gridCol w="4419600"/>
              </a:tblGrid>
              <a:tr h="612663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Approach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Strengths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Limitations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IAGC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Improved Adaptive Gamma Correction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Enhanced gamma adaptation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Fails for mixed lighting conditions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LGMS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Semi-decoupled Retinex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Good decomposition quality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 computational cost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LLEI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Inverted image + atmospheric light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Effective normalization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Gaussian smoothing blurs edges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LIEW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Gamma correction in mixed color spaces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Multi-space processing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Multiple color-space conversions needed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Retinex structure-revealing model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Structure preservation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 produce faded, lower quality images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4516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1250" y="673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9" name="Text 6"/>
          <p:cNvSpPr/>
          <p:nvPr/>
        </p:nvSpPr>
        <p:spPr>
          <a:xfrm>
            <a:off x="1905000" y="6604000"/>
            <a:ext cx="13208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AGCC (2024)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 proposed to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complexity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maintaining color balance and enhancement quality — using only spatial-domain operations without deep learning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9248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1: Comparison of five state-of-the-art low-light enhancement methods (source: AGCC paper)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55600" y="177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Paper: AGCC (2024)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0668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00" y="1143000"/>
            <a:ext cx="14122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Paper: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"Adaptive Gamma and Color Correction for Enhancing Low-Light Images" —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Alsaeedi, Hadi, Alazzawi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(2024),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Journal of Intelligent Engineering and Systems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3622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9" name="Shape 7"/>
          <p:cNvSpPr/>
          <p:nvPr/>
        </p:nvSpPr>
        <p:spPr>
          <a:xfrm>
            <a:off x="2528888" y="26162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555625" y="255240"/>
                </a:moveTo>
                <a:cubicBezTo>
                  <a:pt x="537270" y="267395"/>
                  <a:pt x="516186" y="277192"/>
                  <a:pt x="494233" y="285006"/>
                </a:cubicBezTo>
                <a:cubicBezTo>
                  <a:pt x="435942" y="305842"/>
                  <a:pt x="359420" y="317500"/>
                  <a:pt x="277813" y="317500"/>
                </a:cubicBezTo>
                <a:cubicBezTo>
                  <a:pt x="196205" y="317500"/>
                  <a:pt x="119559" y="305718"/>
                  <a:pt x="61392" y="285006"/>
                </a:cubicBezTo>
                <a:cubicBezTo>
                  <a:pt x="39563" y="277192"/>
                  <a:pt x="18355" y="267395"/>
                  <a:pt x="0" y="255240"/>
                </a:cubicBezTo>
                <a:lnTo>
                  <a:pt x="0" y="357188"/>
                </a:lnTo>
                <a:cubicBezTo>
                  <a:pt x="0" y="412006"/>
                  <a:pt x="124396" y="456406"/>
                  <a:pt x="277813" y="456406"/>
                </a:cubicBezTo>
                <a:cubicBezTo>
                  <a:pt x="431229" y="456406"/>
                  <a:pt x="555625" y="412006"/>
                  <a:pt x="555625" y="357188"/>
                </a:cubicBezTo>
                <a:lnTo>
                  <a:pt x="555625" y="255240"/>
                </a:lnTo>
                <a:close/>
                <a:moveTo>
                  <a:pt x="555625" y="158750"/>
                </a:moveTo>
                <a:lnTo>
                  <a:pt x="555625" y="99219"/>
                </a:lnTo>
                <a:cubicBezTo>
                  <a:pt x="555625" y="44400"/>
                  <a:pt x="431229" y="0"/>
                  <a:pt x="277813" y="0"/>
                </a:cubicBezTo>
                <a:cubicBezTo>
                  <a:pt x="124396" y="0"/>
                  <a:pt x="0" y="44400"/>
                  <a:pt x="0" y="99219"/>
                </a:cubicBezTo>
                <a:lnTo>
                  <a:pt x="0" y="158750"/>
                </a:lnTo>
                <a:cubicBezTo>
                  <a:pt x="0" y="213568"/>
                  <a:pt x="124396" y="257969"/>
                  <a:pt x="277813" y="257969"/>
                </a:cubicBezTo>
                <a:cubicBezTo>
                  <a:pt x="431229" y="257969"/>
                  <a:pt x="555625" y="213568"/>
                  <a:pt x="555625" y="158750"/>
                </a:cubicBezTo>
                <a:close/>
                <a:moveTo>
                  <a:pt x="494233" y="483443"/>
                </a:moveTo>
                <a:cubicBezTo>
                  <a:pt x="436066" y="504155"/>
                  <a:pt x="359544" y="515937"/>
                  <a:pt x="277813" y="515937"/>
                </a:cubicBezTo>
                <a:cubicBezTo>
                  <a:pt x="196081" y="515937"/>
                  <a:pt x="119559" y="504155"/>
                  <a:pt x="61392" y="483443"/>
                </a:cubicBezTo>
                <a:cubicBezTo>
                  <a:pt x="39563" y="475630"/>
                  <a:pt x="18355" y="465832"/>
                  <a:pt x="0" y="453678"/>
                </a:cubicBezTo>
                <a:lnTo>
                  <a:pt x="0" y="535781"/>
                </a:lnTo>
                <a:cubicBezTo>
                  <a:pt x="0" y="590600"/>
                  <a:pt x="124396" y="635000"/>
                  <a:pt x="277813" y="635000"/>
                </a:cubicBezTo>
                <a:cubicBezTo>
                  <a:pt x="431229" y="635000"/>
                  <a:pt x="555625" y="590600"/>
                  <a:pt x="555625" y="535781"/>
                </a:cubicBezTo>
                <a:lnTo>
                  <a:pt x="555625" y="453678"/>
                </a:lnTo>
                <a:cubicBezTo>
                  <a:pt x="537270" y="465832"/>
                  <a:pt x="516186" y="475630"/>
                  <a:pt x="494233" y="483443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3782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191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Datasets Used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6228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LOL, GladNet, Zero_test, DICM, LIME, VV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42000" y="23622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569200" y="26162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79375"/>
                </a:moveTo>
                <a:cubicBezTo>
                  <a:pt x="79375" y="57423"/>
                  <a:pt x="61640" y="39688"/>
                  <a:pt x="39688" y="39688"/>
                </a:cubicBezTo>
                <a:cubicBezTo>
                  <a:pt x="17735" y="39688"/>
                  <a:pt x="0" y="57423"/>
                  <a:pt x="0" y="79375"/>
                </a:cubicBezTo>
                <a:lnTo>
                  <a:pt x="0" y="496094"/>
                </a:lnTo>
                <a:cubicBezTo>
                  <a:pt x="0" y="550912"/>
                  <a:pt x="44400" y="595313"/>
                  <a:pt x="99219" y="595313"/>
                </a:cubicBezTo>
                <a:lnTo>
                  <a:pt x="595313" y="595313"/>
                </a:lnTo>
                <a:cubicBezTo>
                  <a:pt x="617265" y="595313"/>
                  <a:pt x="635000" y="577577"/>
                  <a:pt x="635000" y="555625"/>
                </a:cubicBezTo>
                <a:cubicBezTo>
                  <a:pt x="635000" y="533673"/>
                  <a:pt x="617265" y="515937"/>
                  <a:pt x="595313" y="515937"/>
                </a:cubicBezTo>
                <a:lnTo>
                  <a:pt x="99219" y="515937"/>
                </a:lnTo>
                <a:cubicBezTo>
                  <a:pt x="88305" y="515937"/>
                  <a:pt x="79375" y="507008"/>
                  <a:pt x="79375" y="496094"/>
                </a:cubicBezTo>
                <a:lnTo>
                  <a:pt x="79375" y="79375"/>
                </a:lnTo>
                <a:close/>
                <a:moveTo>
                  <a:pt x="583654" y="186779"/>
                </a:moveTo>
                <a:cubicBezTo>
                  <a:pt x="599157" y="171276"/>
                  <a:pt x="599157" y="146100"/>
                  <a:pt x="583654" y="130597"/>
                </a:cubicBezTo>
                <a:cubicBezTo>
                  <a:pt x="568151" y="115094"/>
                  <a:pt x="542975" y="115094"/>
                  <a:pt x="527472" y="130597"/>
                </a:cubicBezTo>
                <a:lnTo>
                  <a:pt x="396875" y="261317"/>
                </a:lnTo>
                <a:lnTo>
                  <a:pt x="325686" y="190252"/>
                </a:lnTo>
                <a:cubicBezTo>
                  <a:pt x="310183" y="174749"/>
                  <a:pt x="285006" y="174749"/>
                  <a:pt x="269503" y="190252"/>
                </a:cubicBezTo>
                <a:lnTo>
                  <a:pt x="150440" y="309314"/>
                </a:lnTo>
                <a:cubicBezTo>
                  <a:pt x="134938" y="324817"/>
                  <a:pt x="134938" y="349994"/>
                  <a:pt x="150440" y="365497"/>
                </a:cubicBezTo>
                <a:cubicBezTo>
                  <a:pt x="165943" y="381000"/>
                  <a:pt x="191120" y="381000"/>
                  <a:pt x="206623" y="365497"/>
                </a:cubicBezTo>
                <a:lnTo>
                  <a:pt x="297656" y="274464"/>
                </a:lnTo>
                <a:lnTo>
                  <a:pt x="368846" y="345653"/>
                </a:lnTo>
                <a:cubicBezTo>
                  <a:pt x="384349" y="361156"/>
                  <a:pt x="409525" y="361156"/>
                  <a:pt x="425028" y="345653"/>
                </a:cubicBezTo>
                <a:lnTo>
                  <a:pt x="583778" y="186903"/>
                </a:ln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5842000" y="33782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42000" y="4191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Metrics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0" y="4572000"/>
            <a:ext cx="406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PSNR, SSIM (full-ref); NIQE, BRISQUE (no-ref)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22000" y="23622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0" y="26162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492733" y="0"/>
                  <a:pt x="635000" y="142267"/>
                  <a:pt x="635000" y="317500"/>
                </a:cubicBezTo>
                <a:cubicBezTo>
                  <a:pt x="635000" y="492733"/>
                  <a:pt x="492733" y="635000"/>
                  <a:pt x="317500" y="635000"/>
                </a:cubicBezTo>
                <a:cubicBezTo>
                  <a:pt x="142267" y="635000"/>
                  <a:pt x="0" y="492733"/>
                  <a:pt x="0" y="317500"/>
                </a:cubicBezTo>
                <a:cubicBezTo>
                  <a:pt x="0" y="142267"/>
                  <a:pt x="142267" y="0"/>
                  <a:pt x="317500" y="0"/>
                </a:cubicBezTo>
                <a:close/>
                <a:moveTo>
                  <a:pt x="287734" y="148828"/>
                </a:moveTo>
                <a:lnTo>
                  <a:pt x="287734" y="317500"/>
                </a:lnTo>
                <a:cubicBezTo>
                  <a:pt x="287734" y="327422"/>
                  <a:pt x="292695" y="336724"/>
                  <a:pt x="301005" y="342305"/>
                </a:cubicBezTo>
                <a:lnTo>
                  <a:pt x="420067" y="421680"/>
                </a:lnTo>
                <a:cubicBezTo>
                  <a:pt x="433710" y="430857"/>
                  <a:pt x="452189" y="427137"/>
                  <a:pt x="461367" y="413370"/>
                </a:cubicBezTo>
                <a:cubicBezTo>
                  <a:pt x="470545" y="399604"/>
                  <a:pt x="466824" y="381248"/>
                  <a:pt x="453058" y="372070"/>
                </a:cubicBezTo>
                <a:lnTo>
                  <a:pt x="347266" y="301625"/>
                </a:lnTo>
                <a:lnTo>
                  <a:pt x="347266" y="148828"/>
                </a:lnTo>
                <a:cubicBezTo>
                  <a:pt x="347266" y="132333"/>
                  <a:pt x="333995" y="119062"/>
                  <a:pt x="317500" y="119062"/>
                </a:cubicBezTo>
                <a:cubicBezTo>
                  <a:pt x="301005" y="119062"/>
                  <a:pt x="287734" y="132333"/>
                  <a:pt x="287734" y="148828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33782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0.051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2000" y="4191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Avg. Processing Time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76000" y="46228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image on LOL dataset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14732000" cy="2921000"/>
        </p:xfrm>
        <a:graphic>
          <a:graphicData uri="http://schemas.openxmlformats.org/drawingml/2006/table">
            <a:tbl>
              <a:tblPr/>
              <a:tblGrid>
                <a:gridCol w="5156200"/>
                <a:gridCol w="2946400"/>
                <a:gridCol w="2946400"/>
                <a:gridCol w="3683000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 / Dataset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GladNet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Average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PSNR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17.27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19.48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18.37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SSIM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NIQE (lower=better)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Execution Time (sec)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0.051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400" kern="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AGCC Pipeline &amp; Phase 4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4036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Techniques &amp; Implementation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0800" y="533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three-stage AGCC pipeline and our Python/OpenCV implementation details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This chapter details the core techniques and how we reproduced the paper in code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AGCC Three-Stage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0668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066800"/>
            <a:ext cx="4572000" cy="76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27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1270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Gamma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16000" y="1879600"/>
                <a:ext cx="4064000" cy="254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Calculate luminance </a:t>
                </a:r>
                <a:pPr>
                  <a:lnSpc>
                    <a:spcPct val="155000"/>
                  </a:lnSpc>
                </a:pPr>
                <a:r>
                  <a:rPr lang="en-US" sz="1800" b="1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L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Compute avg color factor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Derive adaptive gamma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Apply: </a:t>
                </a:r>
                <a:pPr>
                  <a:lnSpc>
                    <a:spcPct val="15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I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u</m:t>
                          </m:r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t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I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/</m:t>
                          </m:r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γ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16000" y="1879600"/>
                <a:ext cx="4064000" cy="254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Calculate luminance </a:t>
                </a:r>
                <a:pPr>
                  <a:lnSpc>
                    <a:spcPct val="155000"/>
                  </a:lnSpc>
                </a:pPr>
                <a:r>
                  <a:rPr lang="en-US" sz="1800" b="1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L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Compute avg color factor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Derive adaptive gamma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● Apply: </a:t>
                </a:r>
                <a:pPr>
                  <a:lnSpc>
                    <a:spcPct val="155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, MiSans" pitchFamily="34" charset="0"/>
                    <a:ea typeface="Liter, MiSans" pitchFamily="34" charset="-122"/>
                    <a:cs typeface="Liter, MiSans" pitchFamily="34" charset="-120"/>
                  </a:rPr>
                  <a:t>( I_{out} = I^{1/\gamma} )</a:t>
                </a:r>
                <a:endParaRPr lang="en-US" sz="160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4356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2000" y="10668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42000" y="1066800"/>
            <a:ext cx="4572000" cy="76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127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31000" y="1270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RGB Color Correction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18796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Compute RGB channel means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Find highest channel mean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Scale weaker channels up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Reduces color cast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2000" y="10668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2000" y="1066800"/>
            <a:ext cx="4572000" cy="76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0" y="127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0" y="1270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 Stretching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76000" y="18796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Find min/max intensities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Map range to [0, 255]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Histogram normalization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Improves visible details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953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6800" y="5054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Formulas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1066800" y="5461000"/>
                <a:ext cx="1409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L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0.2126</m:t>
                      </m:r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R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0.7152</m:t>
                      </m:r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G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0.0722</m:t>
                      </m:r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B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|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γ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γ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c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[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0.5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−</m:t>
                      </m:r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L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×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(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−</m:t>
                      </m:r>
                      <m:limUpp>
                        <m:limUppPr>
                          <m:ctrlPr>
                            <a:rPr lang="en-US" sz="18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</m:ctrlPr>
                        </m:limUppPr>
                        <m:e>
                          <m:r>
                            <a:rPr lang="en-US" sz="18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I</m:t>
                          </m:r>
                        </m:e>
                        <m:lim>
                          <m:r>
                            <a:rPr lang="en-US" sz="18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ˉ</m:t>
                          </m:r>
                        </m:lim>
                      </m:limUpp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)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]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2</m:t>
                      </m:r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L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|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I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o</m:t>
                          </m:r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u</m:t>
                          </m:r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t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=</m:t>
                      </m:r>
                      <m:r>
                        <a:rPr lang="en-US" sz="1800" i="1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A</m:t>
                      </m:r>
                      <m:r>
                        <a:rPr lang="en-US" sz="1800" dirty="0">
                          <a:solidFill>
                            <a:srgbClr val="333333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m:t>×</m:t>
                      </m:r>
                      <m:sSup>
                        <m:sSupPr>
                          <m:ctrlP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I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1</m:t>
                          </m:r>
                          <m:r>
                            <a:rPr lang="en-US" sz="1300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/</m:t>
                          </m:r>
                          <m:r>
                            <a:rPr lang="en-US" sz="1300" i="1" dirty="0">
                              <a:solidFill>
                                <a:srgbClr val="333333"/>
                              </a:solidFill>
                              <a:latin typeface="Liter, MiSans" pitchFamily="34" charset="0"/>
                              <a:ea typeface="Liter, MiSans" pitchFamily="34" charset="-122"/>
                              <a:cs typeface="Liter, MiSans" pitchFamily="34" charset="-120"/>
                            </a:rPr>
                            <m:t>γ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 23"/>
              <p:cNvSpPr/>
              <p:nvPr/>
            </p:nvSpPr>
            <p:spPr>
              <a:xfrm>
                <a:off x="1066800" y="5461000"/>
                <a:ext cx="1409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, MiSans" pitchFamily="34" charset="0"/>
                    <a:ea typeface="Liter, MiSans" pitchFamily="34" charset="-122"/>
                    <a:cs typeface="Liter, MiSans" pitchFamily="34" charset="-120"/>
                  </a:rPr>
                  <a:t>( L = 0.2126R + 0.7152G + 0.0722B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|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, MiSans" pitchFamily="34" charset="0"/>
                    <a:ea typeface="Liter, MiSans" pitchFamily="34" charset="-122"/>
                    <a:cs typeface="Liter, MiSans" pitchFamily="34" charset="-120"/>
                  </a:rPr>
                  <a:t>( \gamma = \gamma_c + [(0.5 - L) \times (1 - \bar{I})] - 2L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|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333333"/>
                    </a:solidFill>
                    <a:latin typeface="Liter, MiSans" pitchFamily="34" charset="0"/>
                    <a:ea typeface="Liter, MiSans" pitchFamily="34" charset="-122"/>
                    <a:cs typeface="Liter, MiSans" pitchFamily="34" charset="-120"/>
                  </a:rPr>
                  <a:t>( I_{out} = A \times I^{1/\gamma} )</a:t>
                </a:r>
                <a:endParaRPr lang="en-US" sz="1600" dirty="0"/>
              </a:p>
            </p:txBody>
          </p:sp>
        </mc:Fallback>
      </mc:AlternateContent>
      <p:sp>
        <p:nvSpPr>
          <p:cNvPr id="26" name="Text 24"/>
          <p:cNvSpPr/>
          <p:nvPr/>
        </p:nvSpPr>
        <p:spPr>
          <a:xfrm>
            <a:off x="762000" y="6477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Techniques NOT in Original AGCC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9596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Gaussian / Median / Bilateral Filtering    ● Sobel / Canny Edge Detection    ● Image Segmentation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Morphological Operations (erosion, dilation)    ● Fourier / Wavelet Transform    ● Deep Learning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gaps motivated our Phase 6 hybrid improvements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 Implementation Details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016000"/>
            <a:ext cx="7213600" cy="3810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sx="100000" sy="100000" kx="0" ky="0" algn="bl" rotWithShape="0" blurRad="127000" dist="25400" dir="5400000">
              <a:srgbClr val="2c5f8a">
                <a:alpha val="941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016000"/>
            <a:ext cx="7213600" cy="1016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270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879600"/>
            <a:ext cx="6604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Google Colab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Python 3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OpenCV, NumPy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Viz: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Matplotlib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Scikit-Image, pyiqa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Data: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LOL dataset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80400" y="1016000"/>
            <a:ext cx="7213600" cy="3810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sx="100000" sy="100000" kx="0" ky="0" algn="bl" rotWithShape="0" blurRad="127000" dist="25400" dir="5400000">
              <a:srgbClr val="e07b54">
                <a:alpha val="941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80400" y="1016000"/>
            <a:ext cx="7213600" cy="1016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12" name="Text 10"/>
          <p:cNvSpPr/>
          <p:nvPr/>
        </p:nvSpPr>
        <p:spPr>
          <a:xfrm>
            <a:off x="8585200" y="1270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AGCC Workflow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85200" y="1879600"/>
            <a:ext cx="6604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Load low-light image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Step 1: Adaptive Gamma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Step 2: RGB Color Correct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Step 3: Contrast Stretch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Compute PSNR, SSIM, NIQE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Generate histograms &amp; visuals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1308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Generated Outputs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791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" y="56388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visual comparisons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5791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56388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RGB histograms at each stage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22000" y="5791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20" name="Text 18"/>
          <p:cNvSpPr/>
          <p:nvPr/>
        </p:nvSpPr>
        <p:spPr>
          <a:xfrm>
            <a:off x="11252200" y="56388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 tables &amp; CSV exports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4008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2200" y="62484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time measurements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42000" y="64008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62484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with ground truth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22000" y="64008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252200" y="62484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Person-filtered image subsets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7061200"/>
            <a:ext cx="14732000" cy="1727200"/>
          </a:xfrm>
          <a:prstGeom prst="roundRect">
            <a:avLst>
              <a:gd name="adj" fmla="val 5000"/>
            </a:avLst>
          </a:prstGeom>
          <a:solidFill>
            <a:srgbClr val="2C5F8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6800" y="723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574800" y="71882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Code Snippet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6800" y="7594600"/>
            <a:ext cx="14097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Adaptive gamma calculation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 = 0.2126*R_mean + 0.7152*G_mean + 0.0722*B_mean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gamma = gamma_c + ((0.5 - L) * (1 - I_bar)) - 2*L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400" kern="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Evaluation, Improvements &amp; Final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4036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Comparative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0800" y="533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Reproduction results, proposed hybrid improvements, and comprehensive metric comparison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This chapter presents quantitative evidence for original AGCC vs our hybrid improved version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5: Reproduction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66800"/>
          <a:ext cx="7620000" cy="3937000"/>
        </p:xfrm>
        <a:graphic>
          <a:graphicData uri="http://schemas.openxmlformats.org/drawingml/2006/table">
            <a:tbl>
              <a:tblPr/>
              <a:tblGrid>
                <a:gridCol w="3429000"/>
                <a:gridCol w="2286000"/>
                <a:gridCol w="1905000"/>
              </a:tblGrid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Our Result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Paper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Average Input PSNR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7.70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Average AGCC PSNR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16.30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17.27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Average AGCC SSIM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0.495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0.710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Average AGCC NIQE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8.36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Average AGCC BRISQUE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37.53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Execution Time (s)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0.043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0.051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8763000" y="1066800"/>
          <a:ext cx="6731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8763000" y="3810000"/>
          <a:ext cx="6731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/>
          <p:nvPr/>
        </p:nvSpPr>
        <p:spPr>
          <a:xfrm>
            <a:off x="762000" y="52832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 Significant Improvement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762000" y="5740400"/>
            <a:ext cx="762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1" name="Text 6"/>
          <p:cNvSpPr/>
          <p:nvPr/>
        </p:nvSpPr>
        <p:spPr>
          <a:xfrm>
            <a:off x="762000" y="58674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AGCC significantly improves over low-light input: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PSNR +8.6 dB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SSIM +0.32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Runtime closely matches paper at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0.043s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vs 0.051s.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62000" y="70612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Differences from Paper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62000" y="7518400"/>
            <a:ext cx="762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4" name="Text 9"/>
          <p:cNvSpPr/>
          <p:nvPr/>
        </p:nvSpPr>
        <p:spPr>
          <a:xfrm>
            <a:off x="762000" y="76454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Difference due to: selected subset (not full LOL), person-filtering logic, different runtime environment, and implementation details.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763000" y="6604000"/>
            <a:ext cx="6731000" cy="2032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067800" y="6807200"/>
            <a:ext cx="61214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Reproduced implementation confirms AGCC's effectiveness. The method is fast, simple, and produces strong enhancement with only 3 operations.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6: Proposed Hybrid Improvements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66800"/>
          <a:ext cx="14732000" cy="3556000"/>
        </p:xfrm>
        <a:graphic>
          <a:graphicData uri="http://schemas.openxmlformats.org/drawingml/2006/table">
            <a:tbl>
              <a:tblPr/>
              <a:tblGrid>
                <a:gridCol w="3683000"/>
                <a:gridCol w="5156200"/>
                <a:gridCol w="5892800"/>
              </a:tblGrid>
              <a:tr h="498863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Added Technique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Reason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Expected Benefit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6282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LAB CLAHE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Improve local contrast without over-amplifying RGB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 local detail and stronger visibility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86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Bilateral Filtering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Reduce noise while preserving boundaries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Reduced noise, smoother enhanced output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49886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Canny Edge Detection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Analyze edge visibility after enhancement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Evidence of edge preservation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86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Morphological Refinement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Clean and refine edge/region structure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Cleaner structure maps, stable visual output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49886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Wavelet Denoising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Introduce transform-domain denoising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Better suppression of high-frequency noise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86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Hybrid Pipeline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Combine original + improvements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Improved PSNR, SSIM, NIQE, contrast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9022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6 Average Results</a:t>
            </a:r>
            <a:endParaRPr lang="en-US" sz="16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10200"/>
          <a:ext cx="14732000" cy="2286000"/>
        </p:xfrm>
        <a:graphic>
          <a:graphicData uri="http://schemas.openxmlformats.org/drawingml/2006/table">
            <a:tbl>
              <a:tblPr/>
              <a:tblGrid>
                <a:gridCol w="4419600"/>
                <a:gridCol w="2062480"/>
                <a:gridCol w="2062480"/>
                <a:gridCol w="2062480"/>
                <a:gridCol w="2062480"/>
                <a:gridCol w="20624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PSNR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SSIM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NIQE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BRISQUE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Time (s)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Low-Light Input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7.74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0.178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7.25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17.01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Original AGCC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16.84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7.81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26.96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0.036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Improved Hybrid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16.44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0.647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7.17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36.41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0.156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2000" y="7950200"/>
            <a:ext cx="14732000" cy="762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66800" y="80264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Result: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Hybrid AGCC achieves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SSIM 0.647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vs Original 0.600. Trade-off: runtime increases (0.036s → 0.156s).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254000" y="1778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7: Final Comparative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1066800"/>
          <a:ext cx="8128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0" y="1066800"/>
          <a:ext cx="6223000" cy="3924300"/>
        </p:xfrm>
        <a:graphic>
          <a:graphicData uri="http://schemas.openxmlformats.org/drawingml/2006/table">
            <a:tbl>
              <a:tblPr/>
              <a:tblGrid>
                <a:gridCol w="2489200"/>
                <a:gridCol w="1866900"/>
                <a:gridCol w="1866900"/>
              </a:tblGrid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Change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Better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PSNR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+4.59%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SSIM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+11.08%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NIQE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-25.71%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Entropy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+9.25%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Contrast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+24.99%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Intensity Mean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+18.90%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BRISQUE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-38.79%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Sharpness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-69.26%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+308%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2000" y="56896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3000" y="599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10" name="Text 6"/>
          <p:cNvSpPr/>
          <p:nvPr/>
        </p:nvSpPr>
        <p:spPr>
          <a:xfrm>
            <a:off x="1778000" y="5867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 Analysis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78000" y="6350000"/>
            <a:ext cx="1333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structural similarity, naturalness (NIQE), brightness, contrast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 costs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(+308%) and perceptual scores (BRISQUE, sharpness)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62000" y="74930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66800" y="7620000"/>
            <a:ext cx="14122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Verdict: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improved hybrid AGCC is better for applications prioritizing visual quality and structural fidelity. Original AGCC remains superior for real-time applications requiring speed.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400" kern="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Interpretation, Limitations &amp; Final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4036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 &amp; Conclusion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0800" y="533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Interpreting results, acknowledging limitations, and summarizing project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This chapter reflects on what we learned and suggests directions for future 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 &amp; Key Insights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0668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0668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Shape 6"/>
          <p:cNvSpPr/>
          <p:nvPr/>
        </p:nvSpPr>
        <p:spPr>
          <a:xfrm>
            <a:off x="1092200" y="1397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13462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 AGCC Strengths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19812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Computationally efficient (0.05s/image)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Only 3 simple operations needed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Strong brightness improvement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Effective color correction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32800" y="10668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32800" y="10668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3" name="Shape 11"/>
          <p:cNvSpPr/>
          <p:nvPr/>
        </p:nvSpPr>
        <p:spPr>
          <a:xfrm>
            <a:off x="8737600" y="139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25400"/>
                </a:moveTo>
                <a:cubicBezTo>
                  <a:pt x="62151" y="25400"/>
                  <a:pt x="50800" y="36751"/>
                  <a:pt x="50800" y="50800"/>
                </a:cubicBezTo>
                <a:cubicBezTo>
                  <a:pt x="50800" y="64849"/>
                  <a:pt x="62151" y="76200"/>
                  <a:pt x="76200" y="76200"/>
                </a:cubicBezTo>
                <a:lnTo>
                  <a:pt x="91043" y="76200"/>
                </a:lnTo>
                <a:lnTo>
                  <a:pt x="7461" y="159861"/>
                </a:lnTo>
                <a:cubicBezTo>
                  <a:pt x="-2461" y="169783"/>
                  <a:pt x="-2461" y="185896"/>
                  <a:pt x="7461" y="195818"/>
                </a:cubicBezTo>
                <a:cubicBezTo>
                  <a:pt x="17383" y="205740"/>
                  <a:pt x="33496" y="205740"/>
                  <a:pt x="43418" y="195818"/>
                </a:cubicBezTo>
                <a:lnTo>
                  <a:pt x="127000" y="112157"/>
                </a:lnTo>
                <a:lnTo>
                  <a:pt x="127000" y="127000"/>
                </a:lnTo>
                <a:cubicBezTo>
                  <a:pt x="127000" y="141049"/>
                  <a:pt x="138351" y="152400"/>
                  <a:pt x="152400" y="152400"/>
                </a:cubicBezTo>
                <a:cubicBezTo>
                  <a:pt x="166449" y="152400"/>
                  <a:pt x="177800" y="141049"/>
                  <a:pt x="177800" y="127000"/>
                </a:cubicBezTo>
                <a:lnTo>
                  <a:pt x="177800" y="50800"/>
                </a:lnTo>
                <a:cubicBezTo>
                  <a:pt x="177800" y="36751"/>
                  <a:pt x="166449" y="25400"/>
                  <a:pt x="152400" y="25400"/>
                </a:cubicBezTo>
                <a:lnTo>
                  <a:pt x="76200" y="25400"/>
                </a:lnTo>
                <a:close/>
                <a:moveTo>
                  <a:pt x="320516" y="55642"/>
                </a:moveTo>
                <a:cubicBezTo>
                  <a:pt x="320516" y="66446"/>
                  <a:pt x="326280" y="76430"/>
                  <a:pt x="335637" y="81832"/>
                </a:cubicBezTo>
                <a:cubicBezTo>
                  <a:pt x="344994" y="87234"/>
                  <a:pt x="356522" y="87234"/>
                  <a:pt x="365879" y="81832"/>
                </a:cubicBezTo>
                <a:cubicBezTo>
                  <a:pt x="375236" y="76430"/>
                  <a:pt x="381000" y="66446"/>
                  <a:pt x="381000" y="55642"/>
                </a:cubicBezTo>
                <a:cubicBezTo>
                  <a:pt x="381000" y="44837"/>
                  <a:pt x="375236" y="34854"/>
                  <a:pt x="365879" y="29452"/>
                </a:cubicBezTo>
                <a:cubicBezTo>
                  <a:pt x="356522" y="24049"/>
                  <a:pt x="344994" y="24049"/>
                  <a:pt x="335637" y="29452"/>
                </a:cubicBezTo>
                <a:cubicBezTo>
                  <a:pt x="326280" y="34854"/>
                  <a:pt x="320516" y="44837"/>
                  <a:pt x="320516" y="55642"/>
                </a:cubicBezTo>
                <a:close/>
                <a:moveTo>
                  <a:pt x="222012" y="154146"/>
                </a:moveTo>
                <a:cubicBezTo>
                  <a:pt x="222012" y="164951"/>
                  <a:pt x="227776" y="174934"/>
                  <a:pt x="237133" y="180336"/>
                </a:cubicBezTo>
                <a:cubicBezTo>
                  <a:pt x="246490" y="185739"/>
                  <a:pt x="258018" y="185739"/>
                  <a:pt x="267375" y="180336"/>
                </a:cubicBezTo>
                <a:cubicBezTo>
                  <a:pt x="276732" y="174934"/>
                  <a:pt x="282496" y="164951"/>
                  <a:pt x="282496" y="154146"/>
                </a:cubicBezTo>
                <a:cubicBezTo>
                  <a:pt x="282496" y="143342"/>
                  <a:pt x="276732" y="133358"/>
                  <a:pt x="267375" y="127956"/>
                </a:cubicBezTo>
                <a:cubicBezTo>
                  <a:pt x="258018" y="122554"/>
                  <a:pt x="246490" y="122554"/>
                  <a:pt x="237133" y="127956"/>
                </a:cubicBezTo>
                <a:cubicBezTo>
                  <a:pt x="227776" y="133358"/>
                  <a:pt x="222012" y="143342"/>
                  <a:pt x="222012" y="154146"/>
                </a:cubicBezTo>
                <a:close/>
                <a:moveTo>
                  <a:pt x="350758" y="123904"/>
                </a:moveTo>
                <a:cubicBezTo>
                  <a:pt x="334067" y="123904"/>
                  <a:pt x="320516" y="137455"/>
                  <a:pt x="320516" y="154146"/>
                </a:cubicBezTo>
                <a:cubicBezTo>
                  <a:pt x="320516" y="170837"/>
                  <a:pt x="334067" y="184388"/>
                  <a:pt x="350758" y="184388"/>
                </a:cubicBezTo>
                <a:cubicBezTo>
                  <a:pt x="361563" y="184388"/>
                  <a:pt x="371546" y="178624"/>
                  <a:pt x="376948" y="169267"/>
                </a:cubicBezTo>
                <a:cubicBezTo>
                  <a:pt x="382351" y="159910"/>
                  <a:pt x="382351" y="148382"/>
                  <a:pt x="376948" y="139025"/>
                </a:cubicBezTo>
                <a:cubicBezTo>
                  <a:pt x="371546" y="129668"/>
                  <a:pt x="361563" y="123904"/>
                  <a:pt x="350758" y="123904"/>
                </a:cubicBezTo>
                <a:close/>
                <a:moveTo>
                  <a:pt x="123984" y="252254"/>
                </a:moveTo>
                <a:cubicBezTo>
                  <a:pt x="123984" y="263058"/>
                  <a:pt x="129748" y="273042"/>
                  <a:pt x="139105" y="278444"/>
                </a:cubicBezTo>
                <a:cubicBezTo>
                  <a:pt x="148462" y="283846"/>
                  <a:pt x="159990" y="283846"/>
                  <a:pt x="169347" y="278444"/>
                </a:cubicBezTo>
                <a:cubicBezTo>
                  <a:pt x="178703" y="273042"/>
                  <a:pt x="184468" y="263058"/>
                  <a:pt x="184467" y="252254"/>
                </a:cubicBezTo>
                <a:cubicBezTo>
                  <a:pt x="184468" y="241449"/>
                  <a:pt x="178703" y="231466"/>
                  <a:pt x="169347" y="226064"/>
                </a:cubicBezTo>
                <a:cubicBezTo>
                  <a:pt x="159990" y="220661"/>
                  <a:pt x="148462" y="220661"/>
                  <a:pt x="139105" y="226064"/>
                </a:cubicBezTo>
                <a:cubicBezTo>
                  <a:pt x="129748" y="231466"/>
                  <a:pt x="123984" y="241449"/>
                  <a:pt x="123984" y="252254"/>
                </a:cubicBezTo>
                <a:close/>
                <a:moveTo>
                  <a:pt x="252254" y="222012"/>
                </a:moveTo>
                <a:cubicBezTo>
                  <a:pt x="241449" y="222012"/>
                  <a:pt x="231466" y="227776"/>
                  <a:pt x="226064" y="237133"/>
                </a:cubicBezTo>
                <a:cubicBezTo>
                  <a:pt x="220661" y="246490"/>
                  <a:pt x="220661" y="258018"/>
                  <a:pt x="226064" y="267375"/>
                </a:cubicBezTo>
                <a:cubicBezTo>
                  <a:pt x="231466" y="276732"/>
                  <a:pt x="241449" y="282496"/>
                  <a:pt x="252254" y="282496"/>
                </a:cubicBezTo>
                <a:cubicBezTo>
                  <a:pt x="263058" y="282496"/>
                  <a:pt x="273042" y="276732"/>
                  <a:pt x="278444" y="267375"/>
                </a:cubicBezTo>
                <a:cubicBezTo>
                  <a:pt x="283846" y="258018"/>
                  <a:pt x="283846" y="246490"/>
                  <a:pt x="278444" y="237133"/>
                </a:cubicBezTo>
                <a:cubicBezTo>
                  <a:pt x="273042" y="227776"/>
                  <a:pt x="263058" y="222012"/>
                  <a:pt x="252254" y="222012"/>
                </a:cubicBezTo>
                <a:close/>
                <a:moveTo>
                  <a:pt x="320596" y="252254"/>
                </a:moveTo>
                <a:cubicBezTo>
                  <a:pt x="320596" y="263058"/>
                  <a:pt x="326360" y="273042"/>
                  <a:pt x="335717" y="278444"/>
                </a:cubicBezTo>
                <a:cubicBezTo>
                  <a:pt x="345073" y="283846"/>
                  <a:pt x="356602" y="283846"/>
                  <a:pt x="365958" y="278444"/>
                </a:cubicBezTo>
                <a:cubicBezTo>
                  <a:pt x="375315" y="273042"/>
                  <a:pt x="381079" y="263058"/>
                  <a:pt x="381079" y="252254"/>
                </a:cubicBezTo>
                <a:cubicBezTo>
                  <a:pt x="381079" y="235563"/>
                  <a:pt x="367528" y="222012"/>
                  <a:pt x="350838" y="222012"/>
                </a:cubicBezTo>
                <a:cubicBezTo>
                  <a:pt x="334147" y="222012"/>
                  <a:pt x="320596" y="235563"/>
                  <a:pt x="320596" y="252254"/>
                </a:cubicBezTo>
                <a:close/>
                <a:moveTo>
                  <a:pt x="55642" y="320516"/>
                </a:moveTo>
                <a:cubicBezTo>
                  <a:pt x="44837" y="320516"/>
                  <a:pt x="34854" y="326280"/>
                  <a:pt x="29452" y="335637"/>
                </a:cubicBezTo>
                <a:cubicBezTo>
                  <a:pt x="24049" y="344994"/>
                  <a:pt x="24049" y="356522"/>
                  <a:pt x="29452" y="365879"/>
                </a:cubicBezTo>
                <a:cubicBezTo>
                  <a:pt x="34854" y="375236"/>
                  <a:pt x="44837" y="381000"/>
                  <a:pt x="55642" y="381000"/>
                </a:cubicBezTo>
                <a:cubicBezTo>
                  <a:pt x="66446" y="381000"/>
                  <a:pt x="76430" y="375236"/>
                  <a:pt x="81832" y="365879"/>
                </a:cubicBezTo>
                <a:cubicBezTo>
                  <a:pt x="87234" y="356522"/>
                  <a:pt x="87234" y="344994"/>
                  <a:pt x="81832" y="335637"/>
                </a:cubicBezTo>
                <a:cubicBezTo>
                  <a:pt x="76430" y="326280"/>
                  <a:pt x="66446" y="320516"/>
                  <a:pt x="55642" y="320516"/>
                </a:cubicBezTo>
                <a:close/>
                <a:moveTo>
                  <a:pt x="123984" y="350758"/>
                </a:moveTo>
                <a:cubicBezTo>
                  <a:pt x="123984" y="361563"/>
                  <a:pt x="129748" y="371546"/>
                  <a:pt x="139105" y="376948"/>
                </a:cubicBezTo>
                <a:cubicBezTo>
                  <a:pt x="148462" y="382351"/>
                  <a:pt x="159990" y="382351"/>
                  <a:pt x="169347" y="376948"/>
                </a:cubicBezTo>
                <a:cubicBezTo>
                  <a:pt x="178703" y="371546"/>
                  <a:pt x="184468" y="361563"/>
                  <a:pt x="184467" y="350758"/>
                </a:cubicBezTo>
                <a:cubicBezTo>
                  <a:pt x="184468" y="339954"/>
                  <a:pt x="178703" y="329970"/>
                  <a:pt x="169347" y="324568"/>
                </a:cubicBezTo>
                <a:cubicBezTo>
                  <a:pt x="159990" y="319166"/>
                  <a:pt x="148462" y="319166"/>
                  <a:pt x="139105" y="324568"/>
                </a:cubicBezTo>
                <a:cubicBezTo>
                  <a:pt x="129748" y="329970"/>
                  <a:pt x="123984" y="339954"/>
                  <a:pt x="123984" y="350758"/>
                </a:cubicBezTo>
                <a:close/>
                <a:moveTo>
                  <a:pt x="252254" y="320516"/>
                </a:moveTo>
                <a:cubicBezTo>
                  <a:pt x="241449" y="320516"/>
                  <a:pt x="231466" y="326280"/>
                  <a:pt x="226064" y="335637"/>
                </a:cubicBezTo>
                <a:cubicBezTo>
                  <a:pt x="220661" y="344994"/>
                  <a:pt x="220661" y="356522"/>
                  <a:pt x="226064" y="365879"/>
                </a:cubicBezTo>
                <a:cubicBezTo>
                  <a:pt x="231466" y="375236"/>
                  <a:pt x="241449" y="381000"/>
                  <a:pt x="252254" y="381000"/>
                </a:cubicBezTo>
                <a:cubicBezTo>
                  <a:pt x="263058" y="381000"/>
                  <a:pt x="273042" y="375236"/>
                  <a:pt x="278444" y="365879"/>
                </a:cubicBezTo>
                <a:cubicBezTo>
                  <a:pt x="283846" y="356522"/>
                  <a:pt x="283846" y="344994"/>
                  <a:pt x="278444" y="335637"/>
                </a:cubicBezTo>
                <a:cubicBezTo>
                  <a:pt x="273042" y="326280"/>
                  <a:pt x="263058" y="320516"/>
                  <a:pt x="252254" y="320516"/>
                </a:cubicBezTo>
                <a:close/>
                <a:moveTo>
                  <a:pt x="320596" y="350758"/>
                </a:moveTo>
                <a:cubicBezTo>
                  <a:pt x="320596" y="361563"/>
                  <a:pt x="326360" y="371546"/>
                  <a:pt x="335717" y="376948"/>
                </a:cubicBezTo>
                <a:cubicBezTo>
                  <a:pt x="345073" y="382351"/>
                  <a:pt x="356602" y="382351"/>
                  <a:pt x="365958" y="376948"/>
                </a:cubicBezTo>
                <a:cubicBezTo>
                  <a:pt x="375315" y="371546"/>
                  <a:pt x="381079" y="361563"/>
                  <a:pt x="381079" y="350758"/>
                </a:cubicBezTo>
                <a:cubicBezTo>
                  <a:pt x="381079" y="334067"/>
                  <a:pt x="367528" y="320516"/>
                  <a:pt x="350838" y="320516"/>
                </a:cubicBezTo>
                <a:cubicBezTo>
                  <a:pt x="334147" y="320516"/>
                  <a:pt x="320596" y="334067"/>
                  <a:pt x="320596" y="350758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9321800" y="13462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Improvements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7600" y="19812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CLAHE boosts local contrast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Bilateral filter reduces noise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Edge analysis validates quality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SSIM improved +7.8%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8514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4851400"/>
            <a:ext cx="7061200" cy="508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518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1308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Trade-offs &amp; Limitations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57658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Runtime increased significantly (+308%)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BRISQUE score worsened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Sharpness metric decreased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Each metric measures differently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32800" y="48514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2800" y="4851400"/>
            <a:ext cx="7061200" cy="508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23" name="Shape 21"/>
          <p:cNvSpPr/>
          <p:nvPr/>
        </p:nvSpPr>
        <p:spPr>
          <a:xfrm>
            <a:off x="8788400" y="51816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4" name="Text 22"/>
          <p:cNvSpPr/>
          <p:nvPr/>
        </p:nvSpPr>
        <p:spPr>
          <a:xfrm>
            <a:off x="9321800" y="51308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37600" y="57658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Enhancement improves some metrics while degrading others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No single method wins on all fronts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Choose method based on application needs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30200" y="17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5400" y="0"/>
                </a:moveTo>
                <a:cubicBezTo>
                  <a:pt x="39449" y="0"/>
                  <a:pt x="50800" y="11351"/>
                  <a:pt x="50800" y="25400"/>
                </a:cubicBezTo>
                <a:lnTo>
                  <a:pt x="50800" y="38100"/>
                </a:lnTo>
                <a:lnTo>
                  <a:pt x="105569" y="24448"/>
                </a:lnTo>
                <a:cubicBezTo>
                  <a:pt x="135811" y="16907"/>
                  <a:pt x="167719" y="20399"/>
                  <a:pt x="195659" y="34369"/>
                </a:cubicBezTo>
                <a:cubicBezTo>
                  <a:pt x="232410" y="52784"/>
                  <a:pt x="275669" y="52784"/>
                  <a:pt x="312420" y="34369"/>
                </a:cubicBezTo>
                <a:lnTo>
                  <a:pt x="320040" y="30559"/>
                </a:lnTo>
                <a:cubicBezTo>
                  <a:pt x="336391" y="22304"/>
                  <a:pt x="355600" y="34211"/>
                  <a:pt x="355600" y="52467"/>
                </a:cubicBezTo>
                <a:lnTo>
                  <a:pt x="355600" y="274479"/>
                </a:lnTo>
                <a:cubicBezTo>
                  <a:pt x="355600" y="285036"/>
                  <a:pt x="349012" y="294561"/>
                  <a:pt x="339090" y="298291"/>
                </a:cubicBezTo>
                <a:lnTo>
                  <a:pt x="311547" y="308610"/>
                </a:lnTo>
                <a:cubicBezTo>
                  <a:pt x="274876" y="322342"/>
                  <a:pt x="234077" y="320199"/>
                  <a:pt x="199073" y="302736"/>
                </a:cubicBezTo>
                <a:cubicBezTo>
                  <a:pt x="168989" y="287655"/>
                  <a:pt x="134461" y="283924"/>
                  <a:pt x="101838" y="292100"/>
                </a:cubicBezTo>
                <a:lnTo>
                  <a:pt x="50800" y="304800"/>
                </a:lnTo>
                <a:lnTo>
                  <a:pt x="50800" y="381000"/>
                </a:lnTo>
                <a:cubicBezTo>
                  <a:pt x="50800" y="395049"/>
                  <a:pt x="39449" y="406400"/>
                  <a:pt x="25400" y="406400"/>
                </a:cubicBezTo>
                <a:cubicBezTo>
                  <a:pt x="11351" y="406400"/>
                  <a:pt x="0" y="395049"/>
                  <a:pt x="0" y="381000"/>
                </a:cubicBezTo>
                <a:lnTo>
                  <a:pt x="0" y="25400"/>
                </a:lnTo>
                <a:cubicBezTo>
                  <a:pt x="0" y="11351"/>
                  <a:pt x="11351" y="0"/>
                  <a:pt x="25400" y="0"/>
                </a:cubicBezTo>
                <a:close/>
                <a:moveTo>
                  <a:pt x="50800" y="148511"/>
                </a:moveTo>
                <a:lnTo>
                  <a:pt x="101600" y="137478"/>
                </a:lnTo>
                <a:lnTo>
                  <a:pt x="101600" y="189468"/>
                </a:lnTo>
                <a:lnTo>
                  <a:pt x="50800" y="200501"/>
                </a:lnTo>
                <a:lnTo>
                  <a:pt x="50800" y="252492"/>
                </a:lnTo>
                <a:lnTo>
                  <a:pt x="89535" y="242808"/>
                </a:lnTo>
                <a:cubicBezTo>
                  <a:pt x="93583" y="241776"/>
                  <a:pt x="97552" y="240903"/>
                  <a:pt x="101600" y="240189"/>
                </a:cubicBezTo>
                <a:lnTo>
                  <a:pt x="101600" y="189468"/>
                </a:lnTo>
                <a:lnTo>
                  <a:pt x="132477" y="182801"/>
                </a:lnTo>
                <a:cubicBezTo>
                  <a:pt x="139065" y="181372"/>
                  <a:pt x="145733" y="180816"/>
                  <a:pt x="152400" y="181134"/>
                </a:cubicBezTo>
                <a:lnTo>
                  <a:pt x="152400" y="130334"/>
                </a:lnTo>
                <a:cubicBezTo>
                  <a:pt x="163195" y="130651"/>
                  <a:pt x="173990" y="132398"/>
                  <a:pt x="184468" y="135414"/>
                </a:cubicBezTo>
                <a:lnTo>
                  <a:pt x="203200" y="140891"/>
                </a:lnTo>
                <a:lnTo>
                  <a:pt x="203200" y="193834"/>
                </a:lnTo>
                <a:lnTo>
                  <a:pt x="170101" y="184071"/>
                </a:lnTo>
                <a:cubicBezTo>
                  <a:pt x="164306" y="182404"/>
                  <a:pt x="158353" y="181372"/>
                  <a:pt x="152400" y="181054"/>
                </a:cubicBezTo>
                <a:lnTo>
                  <a:pt x="152400" y="237728"/>
                </a:lnTo>
                <a:cubicBezTo>
                  <a:pt x="169704" y="239236"/>
                  <a:pt x="186769" y="243046"/>
                  <a:pt x="203200" y="249158"/>
                </a:cubicBezTo>
                <a:lnTo>
                  <a:pt x="203200" y="193754"/>
                </a:lnTo>
                <a:lnTo>
                  <a:pt x="221218" y="199072"/>
                </a:lnTo>
                <a:cubicBezTo>
                  <a:pt x="231934" y="202247"/>
                  <a:pt x="242888" y="204152"/>
                  <a:pt x="254000" y="204946"/>
                </a:cubicBezTo>
                <a:lnTo>
                  <a:pt x="254000" y="153987"/>
                </a:lnTo>
                <a:cubicBezTo>
                  <a:pt x="247809" y="153352"/>
                  <a:pt x="241618" y="152162"/>
                  <a:pt x="235585" y="150416"/>
                </a:cubicBezTo>
                <a:lnTo>
                  <a:pt x="203200" y="140891"/>
                </a:lnTo>
                <a:lnTo>
                  <a:pt x="203200" y="91678"/>
                </a:lnTo>
                <a:cubicBezTo>
                  <a:pt x="192881" y="88662"/>
                  <a:pt x="182721" y="84693"/>
                  <a:pt x="172879" y="79772"/>
                </a:cubicBezTo>
                <a:cubicBezTo>
                  <a:pt x="166370" y="76517"/>
                  <a:pt x="159464" y="74216"/>
                  <a:pt x="152400" y="72787"/>
                </a:cubicBezTo>
                <a:lnTo>
                  <a:pt x="152400" y="130254"/>
                </a:lnTo>
                <a:cubicBezTo>
                  <a:pt x="142081" y="129937"/>
                  <a:pt x="131763" y="130889"/>
                  <a:pt x="121682" y="133112"/>
                </a:cubicBezTo>
                <a:lnTo>
                  <a:pt x="101600" y="137477"/>
                </a:lnTo>
                <a:lnTo>
                  <a:pt x="101600" y="77787"/>
                </a:lnTo>
                <a:lnTo>
                  <a:pt x="50800" y="90487"/>
                </a:lnTo>
                <a:lnTo>
                  <a:pt x="50800" y="148511"/>
                </a:lnTo>
                <a:close/>
                <a:moveTo>
                  <a:pt x="254000" y="266462"/>
                </a:moveTo>
                <a:cubicBezTo>
                  <a:pt x="267335" y="267653"/>
                  <a:pt x="280908" y="265906"/>
                  <a:pt x="293688" y="261064"/>
                </a:cubicBezTo>
                <a:lnTo>
                  <a:pt x="304800" y="256937"/>
                </a:lnTo>
                <a:lnTo>
                  <a:pt x="304800" y="200025"/>
                </a:lnTo>
                <a:lnTo>
                  <a:pt x="298529" y="201454"/>
                </a:lnTo>
                <a:cubicBezTo>
                  <a:pt x="283924" y="204867"/>
                  <a:pt x="268923" y="205978"/>
                  <a:pt x="254000" y="205026"/>
                </a:cubicBezTo>
                <a:lnTo>
                  <a:pt x="254000" y="266462"/>
                </a:lnTo>
                <a:close/>
                <a:moveTo>
                  <a:pt x="304800" y="147876"/>
                </a:moveTo>
                <a:lnTo>
                  <a:pt x="304800" y="91678"/>
                </a:lnTo>
                <a:cubicBezTo>
                  <a:pt x="288211" y="96520"/>
                  <a:pt x="271145" y="98901"/>
                  <a:pt x="254000" y="98901"/>
                </a:cubicBezTo>
                <a:lnTo>
                  <a:pt x="254000" y="153988"/>
                </a:lnTo>
                <a:cubicBezTo>
                  <a:pt x="265033" y="155099"/>
                  <a:pt x="276225" y="154384"/>
                  <a:pt x="287099" y="151924"/>
                </a:cubicBezTo>
                <a:lnTo>
                  <a:pt x="304800" y="14779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0668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7" name="Shape 5"/>
          <p:cNvSpPr/>
          <p:nvPr/>
        </p:nvSpPr>
        <p:spPr>
          <a:xfrm>
            <a:off x="2489200" y="1371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422176" y="263798"/>
                </a:moveTo>
                <a:lnTo>
                  <a:pt x="322957" y="422548"/>
                </a:lnTo>
                <a:cubicBezTo>
                  <a:pt x="317748" y="430857"/>
                  <a:pt x="308818" y="436066"/>
                  <a:pt x="299021" y="436563"/>
                </a:cubicBezTo>
                <a:cubicBezTo>
                  <a:pt x="289223" y="437059"/>
                  <a:pt x="279797" y="432594"/>
                  <a:pt x="273968" y="424656"/>
                </a:cubicBezTo>
                <a:lnTo>
                  <a:pt x="214437" y="345281"/>
                </a:lnTo>
                <a:cubicBezTo>
                  <a:pt x="204515" y="332135"/>
                  <a:pt x="207243" y="313531"/>
                  <a:pt x="220390" y="303609"/>
                </a:cubicBezTo>
                <a:cubicBezTo>
                  <a:pt x="233536" y="293688"/>
                  <a:pt x="252140" y="296416"/>
                  <a:pt x="262062" y="309563"/>
                </a:cubicBezTo>
                <a:lnTo>
                  <a:pt x="295548" y="354211"/>
                </a:lnTo>
                <a:lnTo>
                  <a:pt x="371698" y="232296"/>
                </a:lnTo>
                <a:cubicBezTo>
                  <a:pt x="380380" y="218405"/>
                  <a:pt x="398735" y="214064"/>
                  <a:pt x="412750" y="222870"/>
                </a:cubicBezTo>
                <a:cubicBezTo>
                  <a:pt x="426765" y="231676"/>
                  <a:pt x="430981" y="249907"/>
                  <a:pt x="422176" y="263922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159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Completed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448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Selected, analyzed, implemented, enhanced, and compared the 2024 AGCC paper successfully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10668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11" name="Shape 9"/>
          <p:cNvSpPr/>
          <p:nvPr/>
        </p:nvSpPr>
        <p:spPr>
          <a:xfrm>
            <a:off x="7569200" y="1371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79375"/>
                </a:moveTo>
                <a:cubicBezTo>
                  <a:pt x="79375" y="57423"/>
                  <a:pt x="61640" y="39688"/>
                  <a:pt x="39688" y="39688"/>
                </a:cubicBezTo>
                <a:cubicBezTo>
                  <a:pt x="17735" y="39688"/>
                  <a:pt x="0" y="57423"/>
                  <a:pt x="0" y="79375"/>
                </a:cubicBezTo>
                <a:lnTo>
                  <a:pt x="0" y="496094"/>
                </a:lnTo>
                <a:cubicBezTo>
                  <a:pt x="0" y="550912"/>
                  <a:pt x="44400" y="595313"/>
                  <a:pt x="99219" y="595313"/>
                </a:cubicBezTo>
                <a:lnTo>
                  <a:pt x="595313" y="595313"/>
                </a:lnTo>
                <a:cubicBezTo>
                  <a:pt x="617265" y="595313"/>
                  <a:pt x="635000" y="577577"/>
                  <a:pt x="635000" y="555625"/>
                </a:cubicBezTo>
                <a:cubicBezTo>
                  <a:pt x="635000" y="533673"/>
                  <a:pt x="617265" y="515937"/>
                  <a:pt x="595313" y="515937"/>
                </a:cubicBezTo>
                <a:lnTo>
                  <a:pt x="99219" y="515937"/>
                </a:lnTo>
                <a:cubicBezTo>
                  <a:pt x="88305" y="515937"/>
                  <a:pt x="79375" y="507008"/>
                  <a:pt x="79375" y="496094"/>
                </a:cubicBezTo>
                <a:lnTo>
                  <a:pt x="79375" y="79375"/>
                </a:lnTo>
                <a:close/>
                <a:moveTo>
                  <a:pt x="583654" y="186779"/>
                </a:moveTo>
                <a:cubicBezTo>
                  <a:pt x="599157" y="171276"/>
                  <a:pt x="599157" y="146100"/>
                  <a:pt x="583654" y="130597"/>
                </a:cubicBezTo>
                <a:cubicBezTo>
                  <a:pt x="568151" y="115094"/>
                  <a:pt x="542975" y="115094"/>
                  <a:pt x="527472" y="130597"/>
                </a:cubicBezTo>
                <a:lnTo>
                  <a:pt x="396875" y="261317"/>
                </a:lnTo>
                <a:lnTo>
                  <a:pt x="325686" y="190252"/>
                </a:lnTo>
                <a:cubicBezTo>
                  <a:pt x="310183" y="174749"/>
                  <a:pt x="285006" y="174749"/>
                  <a:pt x="269503" y="190252"/>
                </a:cubicBezTo>
                <a:lnTo>
                  <a:pt x="150440" y="309314"/>
                </a:lnTo>
                <a:cubicBezTo>
                  <a:pt x="134938" y="324817"/>
                  <a:pt x="134938" y="349994"/>
                  <a:pt x="150440" y="365497"/>
                </a:cubicBezTo>
                <a:cubicBezTo>
                  <a:pt x="165943" y="381000"/>
                  <a:pt x="191120" y="381000"/>
                  <a:pt x="206623" y="365497"/>
                </a:cubicBezTo>
                <a:lnTo>
                  <a:pt x="297656" y="274464"/>
                </a:lnTo>
                <a:lnTo>
                  <a:pt x="368846" y="345653"/>
                </a:lnTo>
                <a:cubicBezTo>
                  <a:pt x="384349" y="361156"/>
                  <a:pt x="409525" y="361156"/>
                  <a:pt x="425028" y="345653"/>
                </a:cubicBezTo>
                <a:lnTo>
                  <a:pt x="583778" y="186903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12" name="Text 10"/>
          <p:cNvSpPr/>
          <p:nvPr/>
        </p:nvSpPr>
        <p:spPr>
          <a:xfrm>
            <a:off x="5842000" y="2159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8448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PSNR: 16.47→17.22 | SSIM: 0.615→0.683 | NIQE: 7.52→5.59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10668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15" name="Shape 13"/>
          <p:cNvSpPr/>
          <p:nvPr/>
        </p:nvSpPr>
        <p:spPr>
          <a:xfrm>
            <a:off x="12649200" y="1371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77688" y="39688"/>
                </a:moveTo>
                <a:lnTo>
                  <a:pt x="183183" y="39688"/>
                </a:lnTo>
                <a:cubicBezTo>
                  <a:pt x="146720" y="39688"/>
                  <a:pt x="114846" y="64616"/>
                  <a:pt x="106164" y="99963"/>
                </a:cubicBezTo>
                <a:lnTo>
                  <a:pt x="1736" y="521519"/>
                </a:lnTo>
                <a:cubicBezTo>
                  <a:pt x="-7565" y="558974"/>
                  <a:pt x="20836" y="595313"/>
                  <a:pt x="59531" y="595313"/>
                </a:cubicBezTo>
                <a:lnTo>
                  <a:pt x="277688" y="595313"/>
                </a:lnTo>
                <a:lnTo>
                  <a:pt x="277688" y="515937"/>
                </a:lnTo>
                <a:cubicBezTo>
                  <a:pt x="277688" y="493985"/>
                  <a:pt x="295424" y="476250"/>
                  <a:pt x="317376" y="476250"/>
                </a:cubicBezTo>
                <a:cubicBezTo>
                  <a:pt x="339328" y="476250"/>
                  <a:pt x="357063" y="493985"/>
                  <a:pt x="357063" y="515937"/>
                </a:cubicBezTo>
                <a:lnTo>
                  <a:pt x="357063" y="595313"/>
                </a:lnTo>
                <a:lnTo>
                  <a:pt x="575469" y="595313"/>
                </a:lnTo>
                <a:cubicBezTo>
                  <a:pt x="614164" y="595313"/>
                  <a:pt x="642565" y="558974"/>
                  <a:pt x="633264" y="521519"/>
                </a:cubicBezTo>
                <a:lnTo>
                  <a:pt x="528960" y="99963"/>
                </a:lnTo>
                <a:cubicBezTo>
                  <a:pt x="520154" y="64616"/>
                  <a:pt x="488404" y="39688"/>
                  <a:pt x="451817" y="39688"/>
                </a:cubicBezTo>
                <a:lnTo>
                  <a:pt x="357063" y="39688"/>
                </a:lnTo>
                <a:lnTo>
                  <a:pt x="357063" y="119062"/>
                </a:lnTo>
                <a:cubicBezTo>
                  <a:pt x="357063" y="141015"/>
                  <a:pt x="339328" y="158750"/>
                  <a:pt x="317376" y="158750"/>
                </a:cubicBezTo>
                <a:cubicBezTo>
                  <a:pt x="295424" y="158750"/>
                  <a:pt x="277688" y="141015"/>
                  <a:pt x="277688" y="119062"/>
                </a:cubicBezTo>
                <a:lnTo>
                  <a:pt x="277688" y="39688"/>
                </a:lnTo>
                <a:close/>
                <a:moveTo>
                  <a:pt x="357063" y="277813"/>
                </a:moveTo>
                <a:lnTo>
                  <a:pt x="357063" y="357188"/>
                </a:lnTo>
                <a:cubicBezTo>
                  <a:pt x="357063" y="379140"/>
                  <a:pt x="339328" y="396875"/>
                  <a:pt x="317376" y="396875"/>
                </a:cubicBezTo>
                <a:cubicBezTo>
                  <a:pt x="295424" y="396875"/>
                  <a:pt x="277688" y="379140"/>
                  <a:pt x="277688" y="357188"/>
                </a:cubicBezTo>
                <a:lnTo>
                  <a:pt x="277688" y="277813"/>
                </a:lnTo>
                <a:cubicBezTo>
                  <a:pt x="277688" y="255860"/>
                  <a:pt x="295424" y="238125"/>
                  <a:pt x="317376" y="238125"/>
                </a:cubicBezTo>
                <a:cubicBezTo>
                  <a:pt x="339328" y="238125"/>
                  <a:pt x="357063" y="255860"/>
                  <a:pt x="357063" y="277813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0" y="2159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0" y="28448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runtime, explore deep learning fusion, test on more diverse datasets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953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Required Phases Completed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461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1-3: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Paper selection, analysis, technique identification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4-5: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Original AGCC implementation and evaluation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6-7: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Hybrid improvements and comparative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985000"/>
            <a:ext cx="14732000" cy="1651000"/>
          </a:xfrm>
          <a:prstGeom prst="roundRect">
            <a:avLst>
              <a:gd name="adj" fmla="val 5000"/>
            </a:avLst>
          </a:prstGeom>
          <a:solidFill>
            <a:srgbClr val="2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7442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2" name="Text 20"/>
          <p:cNvSpPr/>
          <p:nvPr/>
        </p:nvSpPr>
        <p:spPr>
          <a:xfrm>
            <a:off x="1778000" y="7086600"/>
            <a:ext cx="13335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Takeaway: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Combining AGCC with CLAHE and bilateral filtering produces stronger enhancement results, demonstrating the value of hybrid classical DIP pipelines for low-light image enhancement.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30200" y="17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406400"/>
                </a:moveTo>
                <a:lnTo>
                  <a:pt x="76200" y="406400"/>
                </a:lnTo>
                <a:cubicBezTo>
                  <a:pt x="34131" y="406400"/>
                  <a:pt x="0" y="372269"/>
                  <a:pt x="0" y="330200"/>
                </a:cubicBezTo>
                <a:lnTo>
                  <a:pt x="0" y="76200"/>
                </a:lnTo>
                <a:cubicBezTo>
                  <a:pt x="0" y="34131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7066"/>
                  <a:pt x="355600" y="38100"/>
                </a:cubicBezTo>
                <a:lnTo>
                  <a:pt x="355600" y="266700"/>
                </a:lnTo>
                <a:cubicBezTo>
                  <a:pt x="355600" y="283289"/>
                  <a:pt x="344964" y="297418"/>
                  <a:pt x="330200" y="302657"/>
                </a:cubicBez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304800" y="406400"/>
                </a:lnTo>
                <a:close/>
                <a:moveTo>
                  <a:pt x="76200" y="304800"/>
                </a:moveTo>
                <a:cubicBezTo>
                  <a:pt x="62151" y="304800"/>
                  <a:pt x="50800" y="316151"/>
                  <a:pt x="50800" y="330200"/>
                </a:cubicBezTo>
                <a:cubicBezTo>
                  <a:pt x="50800" y="344249"/>
                  <a:pt x="62151" y="355600"/>
                  <a:pt x="76200" y="355600"/>
                </a:cubicBezTo>
                <a:lnTo>
                  <a:pt x="279400" y="355600"/>
                </a:lnTo>
                <a:lnTo>
                  <a:pt x="279400" y="304800"/>
                </a:lnTo>
                <a:lnTo>
                  <a:pt x="76200" y="304800"/>
                </a:lnTo>
                <a:close/>
                <a:moveTo>
                  <a:pt x="101600" y="120650"/>
                </a:moveTo>
                <a:cubicBezTo>
                  <a:pt x="101600" y="131207"/>
                  <a:pt x="110093" y="139700"/>
                  <a:pt x="120650" y="139700"/>
                </a:cubicBezTo>
                <a:lnTo>
                  <a:pt x="260350" y="139700"/>
                </a:lnTo>
                <a:cubicBezTo>
                  <a:pt x="270907" y="139700"/>
                  <a:pt x="279400" y="131207"/>
                  <a:pt x="279400" y="120650"/>
                </a:cubicBezTo>
                <a:cubicBezTo>
                  <a:pt x="279400" y="110093"/>
                  <a:pt x="270907" y="101600"/>
                  <a:pt x="260350" y="101600"/>
                </a:cubicBezTo>
                <a:lnTo>
                  <a:pt x="120650" y="101600"/>
                </a:lnTo>
                <a:cubicBezTo>
                  <a:pt x="110093" y="101600"/>
                  <a:pt x="101600" y="110093"/>
                  <a:pt x="101600" y="120650"/>
                </a:cubicBezTo>
                <a:close/>
                <a:moveTo>
                  <a:pt x="120650" y="177800"/>
                </a:moveTo>
                <a:cubicBezTo>
                  <a:pt x="110093" y="177800"/>
                  <a:pt x="101600" y="186293"/>
                  <a:pt x="101600" y="196850"/>
                </a:cubicBezTo>
                <a:cubicBezTo>
                  <a:pt x="101600" y="207407"/>
                  <a:pt x="110093" y="215900"/>
                  <a:pt x="120650" y="215900"/>
                </a:cubicBezTo>
                <a:lnTo>
                  <a:pt x="260350" y="215900"/>
                </a:lnTo>
                <a:cubicBezTo>
                  <a:pt x="270907" y="215900"/>
                  <a:pt x="279400" y="207407"/>
                  <a:pt x="279400" y="196850"/>
                </a:cubicBezTo>
                <a:cubicBezTo>
                  <a:pt x="279400" y="186293"/>
                  <a:pt x="270907" y="177800"/>
                  <a:pt x="260350" y="177800"/>
                </a:cubicBezTo>
                <a:lnTo>
                  <a:pt x="120650" y="1778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066800"/>
            <a:ext cx="14732000" cy="7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[1]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A. H. Alsaeedi, S. M. Hadi, and Y. Alazzawi, "Adaptive Gamma and Color Correction for Enhancing Low-Light Images,"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Journal of Intelligent Engineering and Systems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vol. 17, no. 4, 2024.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[2]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G. Cao et al., "Contrast enhancement of brightness-distorted images by improved adaptive gamma correction,"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Computers &amp; Electrical Engineering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vol. 66, pp. 569-582, 2018.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[3]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S. Hao et al., "Low-light image enhancement with semi-decoupled decomposition,"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Transactions on Multimedia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vol. 22, no. 12, pp. 3025-3038, 2020.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[4]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J. J. Jeon and J. Y. Park, "Low-light image enhancement using gamma correction prior in mixed color spaces,"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Recognition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vol. 146, 2024.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[5]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J. J. Jeon and I. K. Eom, "Low-light image enhancement using inverted image normalized by atmospheric light,"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 Processing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vol. 196, 2022.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[6]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M. Li et al., "Structure-revealing low-light image enhancement via robust Retinex model,"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Transactions on Image Processing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vol. 27, no. 6, pp. 2828-2841, 2018.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[7]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C. Wei et al., "Deep Retinex Decomposition for Low-Light Enhancement," LOL Dataset, 2018.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[8]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X. Guo et al., "LIME: Low-light image enhancement via illumination map estimation,"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Transactions on Image Processing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vol. 26, no. 2, pp. 982-993, 2016.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[9]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OpenCV Documentation, image processing library, </a:t>
            </a:r>
            <a:pPr>
              <a:lnSpc>
                <a:spcPct val="170000"/>
              </a:lnSpc>
            </a:pPr>
            <a:r>
              <a:rPr lang="en-US" sz="1600" u="sng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https://opencv.org/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[10]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NumPy, Matplotlib, Scikit-Image, PyWavelets, pyiqa documentation.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1778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2794000"/>
            <a:ext cx="1016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3632200"/>
            <a:ext cx="16256000" cy="3048000"/>
          </a:xfrm>
          <a:prstGeom prst="rect">
            <a:avLst/>
          </a:prstGeom>
          <a:solidFill>
            <a:srgbClr val="F5F9FD"/>
          </a:solidFill>
          <a:ln/>
        </p:spPr>
      </p:sp>
      <p:sp>
        <p:nvSpPr>
          <p:cNvPr id="6" name="Shape 4"/>
          <p:cNvSpPr/>
          <p:nvPr/>
        </p:nvSpPr>
        <p:spPr>
          <a:xfrm>
            <a:off x="5588000" y="3429000"/>
            <a:ext cx="5080000" cy="0"/>
          </a:xfrm>
          <a:prstGeom prst="straightConnector1">
            <a:avLst/>
          </a:prstGeom>
          <a:noFill/>
          <a:ln w="25400">
            <a:solidFill>
              <a:srgbClr val="E07B5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048000" y="406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Gamma and Color Correction for Low-Light Image Enhancement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48000" y="4673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Image Processing · Final Semester Project · 2025-2026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49900" y="5461000"/>
            <a:ext cx="508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80100" y="57023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0" y="5588000"/>
            <a:ext cx="3987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48000" y="7112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· OpenCV · NumPy · Google Colab · LOL Dataset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AGCC Low-Light Image Enhancement - Final Project Presentation</dc:title>
  <dc:subject>AGCC Low-Light Image Enhancement - Final Project Presentation</dc:subject>
  <dc:creator>Kimi</dc:creator>
  <cp:lastModifiedBy>Kimi</cp:lastModifiedBy>
  <cp:revision>1</cp:revision>
  <dcterms:created xsi:type="dcterms:W3CDTF">2026-06-01T18:24:11Z</dcterms:created>
  <dcterms:modified xsi:type="dcterms:W3CDTF">2026-06-01T18:24:11Z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{"Label":"AGCC Low-Light Image Enhancement - Final Project Presentation","ContentProducer":"001191110108MACG2KBH8F10000","ProduceID":"19e842f8-8e52-8ef8-8000-00006fb79d13","ReservedCode1":"","ContentPropagator":"001191110108MACG2KBH8F20000","PropagateID":"19e842f8-8e52-8ef8-8000-00006fb79d13","ReservedCode2":""}</vt:lpwstr>
  </property>
</Properties>
</file>